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1" i="0" u="none" strike="noStrike">
                <a:solidFill>
                  <a:srgbClr val="1E2761"/>
                </a:solidFill>
                <a:latin typeface="Calibri"/>
              </a:rPr>
              <a:t>Papers per category, per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math.CO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2215</c:v>
                </c:pt>
                <c:pt idx="1">
                  <c:v>5856</c:v>
                </c:pt>
                <c:pt idx="2">
                  <c:v>6266</c:v>
                </c:pt>
                <c:pt idx="3">
                  <c:v>4998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math.OC</c:v>
                </c:pt>
              </c:strCache>
            </c:strRef>
          </c:tx>
          <c:spPr>
            <a:solidFill>
              <a:srgbClr val="3D52A0"/>
            </a:solidFill>
            <a:ln w="31750" cap="flat">
              <a:solidFill>
                <a:srgbClr val="3D52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52A0"/>
              </a:solidFill>
              <a:ln w="9525" cap="flat">
                <a:solidFill>
                  <a:srgbClr val="3D52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2302</c:v>
                </c:pt>
                <c:pt idx="1">
                  <c:v>6188</c:v>
                </c:pt>
                <c:pt idx="2">
                  <c:v>6726</c:v>
                </c:pt>
                <c:pt idx="3">
                  <c:v>4701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math.PR</c:v>
                </c:pt>
              </c:strCache>
            </c:strRef>
          </c:tx>
          <c:spPr>
            <a:solidFill>
              <a:srgbClr val="7091E6"/>
            </a:solidFill>
            <a:ln w="31750" cap="flat">
              <a:solidFill>
                <a:srgbClr val="7091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91E6"/>
              </a:solidFill>
              <a:ln w="9525" cap="flat">
                <a:solidFill>
                  <a:srgbClr val="7091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1707</c:v>
                </c:pt>
                <c:pt idx="1">
                  <c:v>4473</c:v>
                </c:pt>
                <c:pt idx="2">
                  <c:v>4963</c:v>
                </c:pt>
                <c:pt idx="3">
                  <c:v>3510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math.ST</c:v>
                </c:pt>
              </c:strCache>
            </c:strRef>
          </c:tx>
          <c:spPr>
            <a:solidFill>
              <a:srgbClr val="F2A65A"/>
            </a:solidFill>
            <a:ln w="31750" cap="flat">
              <a:solidFill>
                <a:srgbClr val="F2A6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65A"/>
              </a:solidFill>
              <a:ln w="9525" cap="flat">
                <a:solidFill>
                  <a:srgbClr val="F2A6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765</c:v>
                </c:pt>
                <c:pt idx="1">
                  <c:v>2174</c:v>
                </c:pt>
                <c:pt idx="2">
                  <c:v>2466</c:v>
                </c:pt>
                <c:pt idx="3">
                  <c:v>1876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2C3A8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3840480" cy="3840480"/>
          </a:xfrm>
          <a:prstGeom prst="ellipse">
            <a:avLst/>
          </a:prstGeom>
          <a:solidFill>
            <a:srgbClr val="2C3A8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arXiv Math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search, RAG, trend analytics and advisor finder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BIU 8688697201  ·  Data Science  ·  Final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4F7F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6517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do I even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my literature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review?”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4937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 student writes a topic in natural language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gets back real papers, plus an answer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specific sources.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7647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1581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+ RAG (main feature)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40880" y="1947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papers by meaning, not keywords. Answer questions with citations to real sources.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3108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32735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 (bonus)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topics are growing, who publishes the most.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4617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47823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finder (bonus)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040880" y="49651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 and most cited researchers for a topic.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6309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metadata, Cornell University, mirrored on Kaggle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fields: id, title, authors, categories, abstract, dates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2.2 million papers, about 3.5 GB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subset: math.PR, math.ST, math.CO, math.OC, last 3 years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paper text in our index, only metadata and abstracts. Theorem finder is the one exception: it fetches the real LaTeX source live, per question.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223760" y="1737360"/>
            <a:ext cx="4297680" cy="329184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22860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57,155+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498080" y="3520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indexed, kept current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live updates from arXiv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data flow</a:t>
            </a:r>
            <a:endParaRPr lang="en-US" sz="3200" dirty="0"/>
          </a:p>
        </p:txBody>
      </p:sp>
      <p:pic>
        <p:nvPicPr>
          <p:cNvPr id="3" name="Image 0" descr="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092" y="1417320"/>
            <a:ext cx="757933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148840" cy="4023360"/>
          </a:xfrm>
          <a:prstGeom prst="roundRect">
            <a:avLst>
              <a:gd name="adj" fmla="val 4255"/>
            </a:avLst>
          </a:prstGeom>
          <a:solidFill>
            <a:srgbClr val="F4F7FE"/>
          </a:solidFill>
          <a:ln/>
        </p:spPr>
      </p:sp>
      <p:sp>
        <p:nvSpPr>
          <p:cNvPr id="4" name="Shape 2"/>
          <p:cNvSpPr/>
          <p:nvPr/>
        </p:nvSpPr>
        <p:spPr>
          <a:xfrm>
            <a:off x="13030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530" y="23920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365760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and Kafka run as real containers (docker run), not simulated.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6080" y="1874520"/>
            <a:ext cx="2148840" cy="4023360"/>
          </a:xfrm>
          <a:prstGeom prst="roundRect">
            <a:avLst>
              <a:gd name="adj" fmla="val 4255"/>
            </a:avLst>
          </a:prstGeom>
          <a:solidFill>
            <a:srgbClr val="F4F7FE"/>
          </a:solidFill>
          <a:ln/>
        </p:spPr>
      </p:sp>
      <p:sp>
        <p:nvSpPr>
          <p:cNvPr id="9" name="Shape 6"/>
          <p:cNvSpPr/>
          <p:nvPr/>
        </p:nvSpPr>
        <p:spPr>
          <a:xfrm>
            <a:off x="35890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530" y="23920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17520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090672" y="365760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Producer/consumer ingestion, plus a separate live-update path.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12080" y="1874520"/>
            <a:ext cx="2148840" cy="4023360"/>
          </a:xfrm>
          <a:prstGeom prst="roundRect">
            <a:avLst>
              <a:gd name="adj" fmla="val 4255"/>
            </a:avLst>
          </a:prstGeom>
          <a:solidFill>
            <a:srgbClr val="F4F7FE"/>
          </a:solidFill>
          <a:ln/>
        </p:spPr>
      </p:sp>
      <p:sp>
        <p:nvSpPr>
          <p:cNvPr id="14" name="Shape 10"/>
          <p:cNvSpPr/>
          <p:nvPr/>
        </p:nvSpPr>
        <p:spPr>
          <a:xfrm>
            <a:off x="58750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530" y="23920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376672" y="365760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mode, DataFrame + DAG, joins and aggregates the KPIs.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498080" y="1874520"/>
            <a:ext cx="2148840" cy="4023360"/>
          </a:xfrm>
          <a:prstGeom prst="roundRect">
            <a:avLst>
              <a:gd name="adj" fmla="val 4255"/>
            </a:avLst>
          </a:prstGeom>
          <a:solidFill>
            <a:srgbClr val="F4F7FE"/>
          </a:solidFill>
          <a:ln/>
        </p:spPr>
      </p:sp>
      <p:sp>
        <p:nvSpPr>
          <p:cNvPr id="19" name="Shape 14"/>
          <p:cNvSpPr/>
          <p:nvPr/>
        </p:nvSpPr>
        <p:spPr>
          <a:xfrm>
            <a:off x="81610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530" y="239207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662672" y="365760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store. dense_vector + HNSW for fast kNN search.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784080" y="1874520"/>
            <a:ext cx="2148840" cy="4023360"/>
          </a:xfrm>
          <a:prstGeom prst="roundRect">
            <a:avLst>
              <a:gd name="adj" fmla="val 4255"/>
            </a:avLst>
          </a:prstGeom>
          <a:solidFill>
            <a:srgbClr val="F4F7FE"/>
          </a:solidFill>
          <a:ln/>
        </p:spPr>
      </p:sp>
      <p:sp>
        <p:nvSpPr>
          <p:cNvPr id="24" name="Shape 18"/>
          <p:cNvSpPr/>
          <p:nvPr/>
        </p:nvSpPr>
        <p:spPr>
          <a:xfrm>
            <a:off x="104470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4530" y="239207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75520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948672" y="365760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Scholar, the real arXiv API, and Ollama's local API.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Docker vs. native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3794760"/>
          </a:xfrm>
          <a:prstGeom prst="roundRect">
            <a:avLst>
              <a:gd name="adj" fmla="val 2410"/>
            </a:avLst>
          </a:prstGeom>
          <a:ln w="15875">
            <a:solidFill>
              <a:srgbClr val="6B728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:9200, index arxiv_math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(KRaft)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:9092, topic arxiv-papers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554480"/>
            <a:ext cx="5486400" cy="3794760"/>
          </a:xfrm>
          <a:prstGeom prst="roundRect">
            <a:avLst>
              <a:gd name="adj" fmla="val 2410"/>
            </a:avLst>
          </a:prstGeom>
          <a:ln w="15875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636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Mac, native, outside Docker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build_index, search, rag, ask.py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2404872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886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279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87968" y="3703320"/>
            <a:ext cx="2404872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</p:spPr>
      </p:sp>
      <p:sp>
        <p:nvSpPr>
          <p:cNvPr id="20" name="Text 18"/>
          <p:cNvSpPr/>
          <p:nvPr/>
        </p:nvSpPr>
        <p:spPr>
          <a:xfrm>
            <a:off x="9070848" y="3886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70848" y="4279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650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 (poll_arxiv_live.py) and Semantic Scholar (fetch_citations.py)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built: script 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4F7F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70992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3099816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671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filter_math_subset.py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kafka_producer.py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kafka_consumer_to_file.py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70992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and KPIs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2057400"/>
            <a:ext cx="3099816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671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fetch_citations.py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spark_kpis.py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0144" y="1600200"/>
            <a:ext cx="3502152" cy="1874520"/>
          </a:xfrm>
          <a:prstGeom prst="roundRect">
            <a:avLst>
              <a:gd name="adj" fmla="val 4878"/>
            </a:avLst>
          </a:prstGeom>
          <a:solidFill>
            <a:srgbClr val="F4F7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11312" y="170992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11312" y="2057400"/>
            <a:ext cx="3099816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16712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poll_arxiv_live.py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consume_arxiv_live.py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F4F7F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313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215384"/>
            <a:ext cx="10424160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434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compare_embedding_models.py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evaluate_embeddings_standart.py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build_index.py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search.py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3434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rag_answer.py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find_advisor.py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find_theorem.py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ask.py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embedding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our own sample of 5,000 papers, 3 rounds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 homemade heuristic, moved to standard MTEB / BEIR metrics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ground truth: a paper's title as the query, its own abstract as the correct answer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828800"/>
          <a:ext cx="630936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777240"/>
                <a:gridCol w="777240"/>
                <a:gridCol w="868680"/>
                <a:gridCol w="1005840"/>
                <a:gridCol w="822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all-mpnet-base-v2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allenai-specter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20640" y="44348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 won on every metric at once, so it is used everywhere in the project.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+ RAG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34452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65960" y="249631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402" y="234452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632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06324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over embeddings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249631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9"/>
          <p:cNvSpPr/>
          <p:nvPr/>
        </p:nvSpPr>
        <p:spPr>
          <a:xfrm>
            <a:off x="603504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2" y="234452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692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llama3.1:8b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78040" y="249631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64108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482" y="234452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27532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real papers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822960" y="457200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4F7FE"/>
          </a:solidFill>
          <a:ln/>
        </p:spPr>
      </p:sp>
      <p:sp>
        <p:nvSpPr>
          <p:cNvPr id="23" name="Text 17"/>
          <p:cNvSpPr/>
          <p:nvPr/>
        </p:nvSpPr>
        <p:spPr>
          <a:xfrm>
            <a:off x="1143000" y="4754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llama3.2 (3B) with llama3.1 (8B) on the same question: 8B gave a clearly deeper answer that used several sources together instead of copying one abstract.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Spark: the meaningful transformation step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mode: one machine, every CPU core as a worker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as a DataFrame, split into partitions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DAG of steps (join, groupBy, explode) runs lazily, only when the CSV is written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with real citation counts from Semantic Scholar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37960" y="173736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kpi_category_year.csv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per category, per year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37960" y="2816352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907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kpi_top_authors.csv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3273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prolific authors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37960" y="3895344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4F7FE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3986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kpi_keyword_trends.csv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4352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trends vs. citation impact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papers (57,031 of 57,155) were matched to real Semantic Scholar citation data.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updates: the real arXiv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16164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arXiv API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export.arxiv.org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965960" y="231343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0" y="19202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402" y="216164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poll_arxiv_live.py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0175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our newest paper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0" y="231343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9"/>
          <p:cNvSpPr/>
          <p:nvPr/>
        </p:nvSpPr>
        <p:spPr>
          <a:xfrm>
            <a:off x="6035040" y="19202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2" y="216164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235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arxiv-papers-live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178040" y="231343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641080" y="192024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482" y="216164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consume_arxiv_live.py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2296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upserts into same index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22960" y="45720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" y="46817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</a:t>
            </a:r>
            <a:endParaRPr lang="en-US" sz="4400" dirty="0"/>
          </a:p>
        </p:txBody>
      </p:sp>
      <p:sp>
        <p:nvSpPr>
          <p:cNvPr id="24" name="Text 18"/>
          <p:cNvSpPr/>
          <p:nvPr/>
        </p:nvSpPr>
        <p:spPr>
          <a:xfrm>
            <a:off x="10972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 papers found and indexed, tested end to end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17920" y="45720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/>
        </p:spPr>
      </p:sp>
      <p:sp>
        <p:nvSpPr>
          <p:cNvPr id="26" name="Text 20"/>
          <p:cNvSpPr/>
          <p:nvPr/>
        </p:nvSpPr>
        <p:spPr>
          <a:xfrm>
            <a:off x="6492240" y="4754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real bug along the way: the first version double-indexed everything (374 entries instead of 187) because the consumer was missing a group_id. A one-line fix.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runs by itself every week, on a schedule set up with macOS launchd. Tested on a real Mac, no errors.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322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2402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 finder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33756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most active and most cited researchers for a topic through the Semantic Scholar API. Only shows an institutional affiliation, including Israeli institutions, when the data actually confirms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2103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32257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22402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finder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37960" y="333756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theorem, lemma and proof blocks in the real LaTeX source, and checks whether a result is proved or just used in a paper. More on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finder: proof or reference?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34452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source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arXiv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65960" y="249631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402" y="234452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632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blocks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06324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theorem, lemma, proof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249631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9"/>
          <p:cNvSpPr/>
          <p:nvPr/>
        </p:nvSpPr>
        <p:spPr>
          <a:xfrm>
            <a:off x="603504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2" y="234452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hop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692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to the source paper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78040" y="2496312"/>
            <a:ext cx="50292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641080" y="2103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482" y="2344522"/>
            <a:ext cx="523037" cy="5230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correctly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27532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vs. proved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822960" y="45720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</p:spPr>
      </p:sp>
      <p:sp>
        <p:nvSpPr>
          <p:cNvPr id="23" name="Text 17"/>
          <p:cNvSpPr/>
          <p:nvPr/>
        </p:nvSpPr>
        <p:spPr>
          <a:xfrm>
            <a:off x="1143000" y="47091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“Where is Hoeffding's inequality proved?” The tool finds every paper that uses this bound, then follows one citation hop to the paper that actually proves it. A paper that only cites and uses the inequality gets flagged as used, not proved, and the search points to the real source instead.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trade-offs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911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170992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delivery semantics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65960" y="210312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live-update run indexed 374 entries instead of 187, because the consumer had no group_id and reprocessed the same messages twice. The fix was one line, but it was a real lesson in at-least-once delivery.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32004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419856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321868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vs. speed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965960" y="361188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(3B) answered fast but sometimes just paraphrased one abstract. llama3.1 (8B) is slower and needs more RAM, but pulls grounded answers from several papers at once. We chose quality over speed.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47091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9286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65960" y="472744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on macOS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965960" y="512064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 runs the weekly update instead of cron, since it can catch up after the Mac wakes from sleep. Getting it registered took real debugging: a stale launchd registration kept an old file path until we forced a clean bootout and bootstrap.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insights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0020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4406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Re-checked on a CO and OC only subset: PR-heavy topics dropped out, OC and CO barely moved. 2026 is not a full year yet, but already close to 2025 totals.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635240" y="1600200"/>
            <a:ext cx="393192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lag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90956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citations per year drop toward 2026, simply because recent papers have not had time to collect citations yet.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3749040"/>
            <a:ext cx="3931920" cy="1874520"/>
          </a:xfrm>
          <a:prstGeom prst="roundRect">
            <a:avLst>
              <a:gd name="adj" fmla="val 5854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 matched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0956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57,031 of 57,155 papers were matched to real Semantic Scholar citation data.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2C3A8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3840480" cy="3840480"/>
          </a:xfrm>
          <a:prstGeom prst="ellipse">
            <a:avLst/>
          </a:prstGeom>
          <a:solidFill>
            <a:srgbClr val="2C3A8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ask.py : routes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C3A8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recent approaches to concentration inequalities for random matrices?”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05256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C3A8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0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Hoeffding's inequality proved?”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52560" y="3200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finder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C3A8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51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works on convex optimization in Israel?”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0" y="4251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finder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C3A8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303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trend for random graphs?”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5303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theorem finder question, we open the real paper on arxiv.org right after, to show the theorem is genuinely there.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2C3A8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3840480" cy="3840480"/>
          </a:xfrm>
          <a:prstGeom prst="ellipse">
            <a:avLst/>
          </a:prstGeom>
          <a:solidFill>
            <a:srgbClr val="2C3A8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github.com/SvZol/BigDataProject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2026-08-16T16:32:21Z</dcterms:created>
  <dcterms:modified xsi:type="dcterms:W3CDTF">2026-08-16T16:32:21Z</dcterms:modified>
</cp:coreProperties>
</file>